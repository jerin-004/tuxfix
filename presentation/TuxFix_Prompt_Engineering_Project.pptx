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89DCEB"/>
                </a:solidFill>
              </a:rPr>
              <a:t>🐧 TuxFix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DD6F4"/>
                </a:solidFill>
              </a:rPr>
              <a:t>A Prompt Engineering-Based Linux Troubleshooting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6ADC8"/>
                </a:solidFill>
              </a:rPr>
              <a:t>Investigating How Prompt Engineering Strategies Affect LLM Diagnostic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Python 3.13 · Streamlit · Ollama · Pydantic v2 · 143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DCEB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CCC0B4"/>
                </a:solidFill>
              </a:rPr>
              <a:t>Linux errors are often cryptic and context-dependent</a:t>
            </a:r>
          </a:p>
          <a:p>
            <a:pPr lvl="1"/>
            <a:r>
              <a:rPr sz="1700">
                <a:solidFill>
                  <a:srgbClr val="F9E2AF"/>
                </a:solidFill>
              </a:rPr>
              <a:t>  e.g.  "error while loading shared libraries: libssl.so.1.1"</a:t>
            </a:r>
          </a:p>
          <a:p>
            <a:pPr/>
            <a:r>
              <a:rPr sz="1700">
                <a:solidFill>
                  <a:srgbClr val="CCC0B4"/>
                </a:solidFill>
              </a:rPr>
              <a:t>Users must already understand the problem to search effectively</a:t>
            </a:r>
          </a:p>
          <a:p>
            <a:pPr/>
            <a:r>
              <a:rPr sz="1700">
                <a:solidFill>
                  <a:srgbClr val="CCC0B4"/>
                </a:solidFill>
              </a:rPr>
              <a:t>LLMs can generate diagnostic advice — but quality varies wildly</a:t>
            </a:r>
          </a:p>
          <a:p>
            <a:pPr/>
            <a:r>
              <a:rPr sz="1700">
                <a:solidFill>
                  <a:srgbClr val="CCC0B4"/>
                </a:solidFill>
              </a:rPr>
              <a:t/>
            </a:r>
          </a:p>
          <a:p>
            <a:pPr/>
            <a:r>
              <a:rPr sz="1700">
                <a:solidFill>
                  <a:srgbClr val="CDD6F4"/>
                </a:solidFill>
              </a:rPr>
              <a:t>The same model + same problem + different prompt → different quality:</a:t>
            </a:r>
          </a:p>
          <a:p>
            <a:pPr lvl="1"/>
            <a:r>
              <a:rPr sz="1700">
                <a:solidFill>
                  <a:srgbClr val="F38BA8"/>
                </a:solidFill>
              </a:rPr>
              <a:t>  → Vague prompt: generic advice, no evidence, wrong risk levels</a:t>
            </a:r>
          </a:p>
          <a:p>
            <a:pPr lvl="1"/>
            <a:r>
              <a:rPr sz="1700">
                <a:solidFill>
                  <a:srgbClr val="A6E3A1"/>
                </a:solidFill>
              </a:rPr>
              <a:t>  → Structured prompt: evidence-grounded, ordered steps, risk-classified</a:t>
            </a:r>
          </a:p>
          <a:p>
            <a:pPr/>
            <a:r>
              <a:rPr sz="1700">
                <a:solidFill>
                  <a:srgbClr val="CCC0B4"/>
                </a:solidFill>
              </a:rPr>
              <a:t/>
            </a:r>
          </a:p>
          <a:p>
            <a:pPr/>
            <a:r>
              <a:rPr sz="1700">
                <a:solidFill>
                  <a:srgbClr val="89DCEB"/>
                </a:solidFill>
              </a:rPr>
              <a:t>Core insight: HOW you ask matters as much as WHAT you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DCEB"/>
                </a:solidFill>
              </a:rPr>
              <a:t>Research Question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DD6F4"/>
                </a:solidFill>
              </a:rPr>
              <a:t>"How do different prompt engineering strategies affect the quality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DD6F4"/>
                </a:solidFill>
              </a:rPr>
              <a:t>reliability of LLM-generated Linux troubleshooting recommendations?"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89DCEB"/>
                </a:solidFill>
              </a:rPr>
              <a:t>Objectives:</a:t>
            </a:r>
          </a:p>
          <a:p>
            <a:pPr lvl="1"/>
            <a:r>
              <a:rPr sz="1700">
                <a:solidFill>
                  <a:srgbClr val="CCC0B4"/>
                </a:solidFill>
              </a:rPr>
              <a:t>1.  Implement 5 structurally distinct prompt engineering strategies</a:t>
            </a:r>
          </a:p>
          <a:p>
            <a:pPr lvl="1"/>
            <a:r>
              <a:rPr sz="1700">
                <a:solidFill>
                  <a:srgbClr val="CCC0B4"/>
                </a:solidFill>
              </a:rPr>
              <a:t>2.  Build a structured output schema with automated Pydantic validation</a:t>
            </a:r>
          </a:p>
          <a:p>
            <a:pPr lvl="1"/>
            <a:r>
              <a:rPr sz="1700">
                <a:solidFill>
                  <a:srgbClr val="CCC0B4"/>
                </a:solidFill>
              </a:rPr>
              <a:t>3.  Create a safety layer that classifies command risk independently of model output</a:t>
            </a:r>
          </a:p>
          <a:p>
            <a:pPr lvl="1"/>
            <a:r>
              <a:rPr sz="1700">
                <a:solidFill>
                  <a:srgbClr val="CCC0B4"/>
                </a:solidFill>
              </a:rPr>
              <a:t>4.  Design a benchmark dataset of 8 realistic Linux scenarios</a:t>
            </a:r>
          </a:p>
          <a:p>
            <a:pPr lvl="1"/>
            <a:r>
              <a:rPr sz="1700">
                <a:solidFill>
                  <a:srgbClr val="CCC0B4"/>
                </a:solidFill>
              </a:rPr>
              <a:t>5.  Develop an honest evaluation framework (no fabricated results)</a:t>
            </a:r>
          </a:p>
          <a:p>
            <a:pPr lvl="1"/>
            <a:r>
              <a:rPr sz="1700">
                <a:solidFill>
                  <a:srgbClr val="CCC0B4"/>
                </a:solidFill>
              </a:rPr>
              <a:t>6.  Build a professional Streamlit UI with 6 feature tabs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DCEB"/>
                </a:solidFill>
              </a:rPr>
              <a:t>Existing Limitations →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8BA8"/>
                </a:solidFill>
              </a:rPr>
              <a:t>Existing Tools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CCC0B4"/>
                </a:solidFill>
              </a:rPr>
              <a:t>man pages / web search</a:t>
            </a:r>
          </a:p>
          <a:p>
            <a:pPr lvl="1"/>
            <a:r>
              <a:rPr sz="1600">
                <a:solidFill>
                  <a:srgbClr val="A6ADC8"/>
                </a:solidFill>
              </a:rPr>
              <a:t>  → Returns docs, not diagnosis</a:t>
            </a:r>
          </a:p>
          <a:p>
            <a:pPr/>
            <a:r>
              <a:rPr sz="1600">
                <a:solidFill>
                  <a:srgbClr val="CCC0B4"/>
                </a:solidFill>
              </a:rPr>
              <a:t>Generic LLM chatbots</a:t>
            </a:r>
          </a:p>
          <a:p>
            <a:pPr lvl="1"/>
            <a:r>
              <a:rPr sz="1600">
                <a:solidFill>
                  <a:srgbClr val="A6ADC8"/>
                </a:solidFill>
              </a:rPr>
              <a:t>  → Unstructured, cloud-dependent, unsafe</a:t>
            </a:r>
          </a:p>
          <a:p>
            <a:pPr/>
            <a:r>
              <a:rPr sz="1600">
                <a:solidFill>
                  <a:srgbClr val="CCC0B4"/>
                </a:solidFill>
              </a:rPr>
              <a:t>LLM wrappers</a:t>
            </a:r>
          </a:p>
          <a:p>
            <a:pPr lvl="1"/>
            <a:r>
              <a:rPr sz="1600">
                <a:solidFill>
                  <a:srgbClr val="A6ADC8"/>
                </a:solidFill>
              </a:rPr>
              <a:t>  → Single strategy, no safety 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TuxFix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A6E3A1"/>
                </a:solidFill>
              </a:rPr>
              <a:t>✅  Validated JSON output (Pydantic schema)</a:t>
            </a:r>
          </a:p>
          <a:p>
            <a:pPr/>
            <a:r>
              <a:rPr sz="1600">
                <a:solidFill>
                  <a:srgbClr val="A6E3A1"/>
                </a:solidFill>
              </a:rPr>
              <a:t>✅  5 prompt strategies, side-by-side comparison</a:t>
            </a:r>
          </a:p>
          <a:p>
            <a:pPr/>
            <a:r>
              <a:rPr sz="1600">
                <a:solidFill>
                  <a:srgbClr val="A6E3A1"/>
                </a:solidFill>
              </a:rPr>
              <a:t>✅  Independent command risk classification</a:t>
            </a:r>
          </a:p>
          <a:p>
            <a:pPr/>
            <a:r>
              <a:rPr sz="1600">
                <a:solidFill>
                  <a:srgbClr val="A6E3A1"/>
                </a:solidFill>
              </a:rPr>
              <a:t>✅  Local inference (Ollama — no API key)</a:t>
            </a:r>
          </a:p>
          <a:p>
            <a:pPr/>
            <a:r>
              <a:rPr sz="1600">
                <a:solidFill>
                  <a:srgbClr val="A6E3A1"/>
                </a:solidFill>
              </a:rPr>
              <a:t>✅  Prompt injection detection</a:t>
            </a:r>
          </a:p>
          <a:p>
            <a:pPr/>
            <a:r>
              <a:rPr sz="1600">
                <a:solidFill>
                  <a:srgbClr val="A6E3A1"/>
                </a:solidFill>
              </a:rPr>
              <a:t>✅  Demo mode for offline presentation</a:t>
            </a:r>
          </a:p>
          <a:p>
            <a:pPr/>
            <a:r>
              <a:rPr sz="1600">
                <a:solidFill>
                  <a:srgbClr val="A6E3A1"/>
                </a:solidFill>
              </a:rPr>
              <a:t>✅  143 automated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DCEB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B4"/>
                </a:solidFill>
              </a:rPr>
              <a:t>Streamlit UI (6 tabs)
  │
  ▼  TroubleshootingInput (Pydantic)
  │
Diagnostics Orchestrator
  scan → build prompt → LLM call → parse → safety enrich
  │              │              │
Prompts      LLM Client     Schemas
(5 strategies)  (Ollama/Demo)  (Pydantic v2)
  │              │              │
Safety Module + Evaluation Framework
  classify_command() │ structural │ safety │ heuristic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89DCEB"/>
                </a:solidFill>
              </a:rPr>
              <a:t>Key properties:</a:t>
            </a:r>
          </a:p>
          <a:p>
            <a:pPr lvl="1"/>
            <a:r>
              <a:rPr sz="1500">
                <a:solidFill>
                  <a:srgbClr val="F9E2AF"/>
                </a:solidFill>
              </a:rPr>
              <a:t>  Safety module is independent of model output — never trusts model-reported risk alone</a:t>
            </a:r>
          </a:p>
          <a:p>
            <a:pPr lvl="1"/>
            <a:r>
              <a:rPr sz="1500">
                <a:solidFill>
                  <a:srgbClr val="F9E2AF"/>
                </a:solidFill>
              </a:rPr>
              <a:t>  User error text injected with delimiters, never into system prompt</a:t>
            </a:r>
          </a:p>
          <a:p>
            <a:pPr lvl="1"/>
            <a:r>
              <a:rPr sz="1500">
                <a:solidFill>
                  <a:srgbClr val="A6E3A1"/>
                </a:solidFill>
              </a:rPr>
              <a:t>  Zero command execution — display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DCEB"/>
                </a:solidFill>
              </a:rPr>
              <a:t>Five Prompt Engineering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ADC8"/>
                </a:solidFill>
              </a:rPr>
              <a:t>1. Zero-Shot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058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B4"/>
                </a:solidFill>
              </a:rPr>
              <a:t>Task description + output schema only. No examples, no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C0B4"/>
                </a:solidFill>
              </a:rPr>
              <a:t>2. Role-Based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659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B4"/>
                </a:solidFill>
              </a:rPr>
              <a:t>Expert persona: 'senior Linux engineer with 15 years experience'. Emphasises evidence vs hypothesis separation.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D6F4"/>
                </a:solidFill>
              </a:rPr>
              <a:t>3. Few-Shot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260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B4"/>
                </a:solidFill>
              </a:rPr>
              <a:t>2 worked examples (DNS + service failure) before the actual problem. Demonstrates format and reasoning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DCEB"/>
                </a:solidFill>
              </a:rPr>
              <a:t>4. Constraint-Based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886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B4"/>
                </a:solidFill>
              </a:rPr>
              <a:t>7 numbered explicit rules: EVIDENCE RULE, ORDERING RULE, RISK RULE, DESTRUCTIVE RULE, UNCERTAINTY RULE, COMPLETENESS RULE, FORMAT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5. Iterative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46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B4"/>
                </a:solidFill>
              </a:rPr>
              <a:t>Multi-turn: initial diagnosis → new evidence → refined analysis. Updates confidence, removes answered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</a:rPr>
              <a:t>Every strategy produces a structurally different prompt — not just a label change. Inspect in the Prompt Lab tab.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DCEB"/>
                </a:solidFill>
              </a:rPr>
              <a:t>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89DCEB"/>
                </a:solidFill>
              </a:rPr>
              <a:t>Demo flow:</a:t>
            </a:r>
          </a:p>
          <a:p>
            <a:pPr lvl="1"/>
            <a:r>
              <a:rPr sz="1500">
                <a:solidFill>
                  <a:srgbClr val="CCC0B4"/>
                </a:solidFill>
              </a:rPr>
              <a:t>1.  Enter a DNS resolution error in the Troubleshoot tab</a:t>
            </a:r>
          </a:p>
          <a:p>
            <a:pPr lvl="2"/>
            <a:r>
              <a:rPr sz="1500">
                <a:solidFill>
                  <a:srgbClr val="F9E2AF"/>
                </a:solidFill>
              </a:rPr>
              <a:t>    Error: "ping: google.com: Temporary failure in name resolution"</a:t>
            </a:r>
          </a:p>
          <a:p>
            <a:pPr lvl="1"/>
            <a:r>
              <a:rPr sz="1500">
                <a:solidFill>
                  <a:srgbClr val="CCC0B4"/>
                </a:solidFill>
              </a:rPr>
              <a:t>2.  Select Constraint-Based strategy → inspect assembled prompt in Prompt Lab</a:t>
            </a:r>
          </a:p>
          <a:p>
            <a:pPr lvl="1"/>
            <a:r>
              <a:rPr sz="1500">
                <a:solidFill>
                  <a:srgbClr val="CCC0B4"/>
                </a:solidFill>
              </a:rPr>
              <a:t>3.  Submit → receive structured diagnostic report:</a:t>
            </a:r>
          </a:p>
          <a:p>
            <a:pPr lvl="2"/>
            <a:r>
              <a:rPr sz="1500">
                <a:solidFill>
                  <a:srgbClr val="F38BA8"/>
                </a:solidFill>
              </a:rPr>
              <a:t>       🔴 Root cause: resolv.conf missing nameserver  [confidence: high]</a:t>
            </a:r>
          </a:p>
          <a:p>
            <a:pPr lvl="2"/>
            <a:r>
              <a:rPr sz="1500">
                <a:solidFill>
                  <a:srgbClr val="A6E3A1"/>
                </a:solidFill>
              </a:rPr>
              <a:t>       🟢 cat /etc/resolv.conf                        [read_only]</a:t>
            </a:r>
          </a:p>
          <a:p>
            <a:pPr lvl="2"/>
            <a:r>
              <a:rPr sz="1500">
                <a:solidFill>
                  <a:srgbClr val="A6E3A1"/>
                </a:solidFill>
              </a:rPr>
              <a:t>       🟢 systemctl status systemd-resolved           [read_only]</a:t>
            </a:r>
          </a:p>
          <a:p>
            <a:pPr lvl="2"/>
            <a:r>
              <a:rPr sz="1500">
                <a:solidFill>
                  <a:srgbClr val="F9E2AF"/>
                </a:solidFill>
              </a:rPr>
              <a:t>       🟠 sudo systemctl restart systemd-resolved     [medium risk]</a:t>
            </a:r>
          </a:p>
          <a:p>
            <a:pPr lvl="1"/>
            <a:r>
              <a:rPr sz="1500">
                <a:solidFill>
                  <a:srgbClr val="CCC0B4"/>
                </a:solidFill>
              </a:rPr>
              <a:t>4.  Navigate to Compare Strategies → same problem, all 5 strategies, metrics table</a:t>
            </a:r>
          </a:p>
          <a:p>
            <a:pPr/>
            <a:r>
              <a:rPr sz="1500">
                <a:solidFill>
                  <a:srgbClr val="CCC0B4"/>
                </a:solidFill>
              </a:rPr>
              <a:t/>
            </a:r>
          </a:p>
          <a:p>
            <a:pPr/>
            <a:r>
              <a:rPr sz="1500">
                <a:solidFill>
                  <a:srgbClr val="A6E3A1"/>
                </a:solidFill>
              </a:rPr>
              <a:t>Safety: Every command shows risk badge. TuxFix NEVER executes commands.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DCEB"/>
                </a:solidFill>
              </a:rPr>
              <a:t>Benchmark Design &amp;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</a:rPr>
              <a:t>8 Benchmark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CCC0B4"/>
                </a:solidFill>
              </a:rPr>
              <a:t>DNS Resolution Failure</a:t>
            </a:r>
          </a:p>
          <a:p>
            <a:pPr/>
            <a:r>
              <a:rPr sz="1400">
                <a:solidFill>
                  <a:srgbClr val="CCC0B4"/>
                </a:solidFill>
              </a:rPr>
              <a:t>Package Manager Repo Error</a:t>
            </a:r>
          </a:p>
          <a:p>
            <a:pPr/>
            <a:r>
              <a:rPr sz="1400">
                <a:solidFill>
                  <a:srgbClr val="CCC0B4"/>
                </a:solidFill>
              </a:rPr>
              <a:t>Service Fails to Start</a:t>
            </a:r>
          </a:p>
          <a:p>
            <a:pPr/>
            <a:r>
              <a:rPr sz="1400">
                <a:solidFill>
                  <a:srgbClr val="CCC0B4"/>
                </a:solidFill>
              </a:rPr>
              <a:t>USB Device Not Detected</a:t>
            </a:r>
          </a:p>
          <a:p>
            <a:pPr/>
            <a:r>
              <a:rPr sz="1400">
                <a:solidFill>
                  <a:srgbClr val="CCC0B4"/>
                </a:solidFill>
              </a:rPr>
              <a:t>Permission Denied Error</a:t>
            </a:r>
          </a:p>
          <a:p>
            <a:pPr/>
            <a:r>
              <a:rPr sz="1400">
                <a:solidFill>
                  <a:srgbClr val="CCC0B4"/>
                </a:solidFill>
              </a:rPr>
              <a:t>Disk Space Exhaustion</a:t>
            </a:r>
          </a:p>
          <a:p>
            <a:pPr/>
            <a:r>
              <a:rPr sz="1400">
                <a:solidFill>
                  <a:srgbClr val="CCC0B4"/>
                </a:solidFill>
              </a:rPr>
              <a:t>Missing Shared Library</a:t>
            </a:r>
          </a:p>
          <a:p>
            <a:pPr/>
            <a:r>
              <a:rPr sz="1400">
                <a:solidFill>
                  <a:srgbClr val="CCC0B4"/>
                </a:solidFill>
              </a:rPr>
              <a:t>Network Interface No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</a:rPr>
              <a:t>3 Evaluation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89DCEB"/>
                </a:solidFill>
              </a:rPr>
              <a:t>Structural (objective):</a:t>
            </a:r>
          </a:p>
          <a:p>
            <a:pPr lvl="1"/>
            <a:r>
              <a:rPr sz="1400">
                <a:solidFill>
                  <a:srgbClr val="CCC0B4"/>
                </a:solidFill>
              </a:rPr>
              <a:t>  JSON valid, schema valid, field completeness</a:t>
            </a:r>
          </a:p>
          <a:p>
            <a:pPr/>
            <a:r>
              <a:rPr sz="1400">
                <a:solidFill>
                  <a:srgbClr val="89DCEB"/>
                </a:solidFill>
              </a:rPr>
              <a:t>Safety (rule-based):</a:t>
            </a:r>
          </a:p>
          <a:p>
            <a:pPr lvl="1"/>
            <a:r>
              <a:rPr sz="1400">
                <a:solidFill>
                  <a:srgbClr val="CCC0B4"/>
                </a:solidFill>
              </a:rPr>
              <a:t>  Risk flags accurate, disclaimer present</a:t>
            </a:r>
          </a:p>
          <a:p>
            <a:pPr/>
            <a:r>
              <a:rPr sz="1400">
                <a:solidFill>
                  <a:srgbClr val="F9E2AF"/>
                </a:solidFill>
              </a:rPr>
              <a:t>Quality (HEURISTIC only):</a:t>
            </a:r>
          </a:p>
          <a:p>
            <a:pPr lvl="1"/>
            <a:r>
              <a:rPr sz="1400">
                <a:solidFill>
                  <a:srgbClr val="CCC0B4"/>
                </a:solidFill>
              </a:rPr>
              <a:t>  Evidence linking, step ordering, specificity</a:t>
            </a:r>
          </a:p>
          <a:p>
            <a:pPr/>
            <a:r>
              <a:rPr sz="1400">
                <a:solidFill>
                  <a:srgbClr val="CCC0B4"/>
                </a:solidFill>
              </a:rPr>
              <a:t/>
            </a:r>
          </a:p>
          <a:p>
            <a:pPr/>
            <a:r>
              <a:rPr sz="1400">
                <a:solidFill>
                  <a:srgbClr val="F38BA8"/>
                </a:solidFill>
              </a:rPr>
              <a:t>⚠  Valid JSON ≠ correct diagnosis</a:t>
            </a:r>
          </a:p>
          <a:p>
            <a:pPr/>
            <a:r>
              <a:rPr sz="1400">
                <a:solidFill>
                  <a:srgbClr val="F9E2AF"/>
                </a:solidFill>
              </a:rPr>
              <a:t>All heuristic scores labelled _heuristic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DCEB"/>
                </a:solidFill>
              </a:rP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9E2AF"/>
                </a:solidFill>
              </a:rPr>
              <a:t>Run benchmark before presentation and insert actual results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DCEB"/>
                </a:solidFill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DCEB"/>
                </a:solidFill>
              </a:rPr>
              <a:t>Valid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DCEB"/>
                </a:solidFill>
              </a:rPr>
              <a:t>Field Completeness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DCEB"/>
                </a:solidFill>
              </a:rPr>
              <a:t>Safety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DCEB"/>
                </a:solidFill>
              </a:rPr>
              <a:t>Heuristic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DCEB"/>
                </a:solidFill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0B4"/>
                </a:solidFill>
              </a:rPr>
              <a:t>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0B4"/>
                </a:solidFill>
              </a:rPr>
              <a:t>Role-Based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0B4"/>
                </a:solidFill>
              </a:rPr>
              <a:t>Few-Shot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0B4"/>
                </a:solidFill>
              </a:rPr>
              <a:t>Constraint-Based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0B4"/>
                </a:solidFill>
              </a:rPr>
              <a:t>Iterative Refinement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976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2976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2976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2976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</a:rPr>
              <a:t>Note: Tables will be populated from live benchmark export during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DCEB"/>
                </a:solidFill>
              </a:rPr>
              <a:t>Limitations, Future Work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8BA8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CCC0B4"/>
                </a:solidFill>
              </a:rPr>
              <a:t>Single model (codegemma:2b)</a:t>
            </a:r>
          </a:p>
          <a:p>
            <a:pPr/>
            <a:r>
              <a:rPr sz="1500">
                <a:solidFill>
                  <a:srgbClr val="CCC0B4"/>
                </a:solidFill>
              </a:rPr>
              <a:t>8 benchmark cases — not statistically significant</a:t>
            </a:r>
          </a:p>
          <a:p>
            <a:pPr/>
            <a:r>
              <a:rPr sz="1500">
                <a:solidFill>
                  <a:srgbClr val="CCC0B4"/>
                </a:solidFill>
              </a:rPr>
              <a:t>Heuristic quality ≠ diagnostic correctness</a:t>
            </a:r>
          </a:p>
          <a:p>
            <a:pPr/>
            <a:r>
              <a:rPr sz="1500">
                <a:solidFill>
                  <a:srgbClr val="CCC0B4"/>
                </a:solidFill>
              </a:rPr>
              <a:t>No user study conducted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CCC0B4"/>
                </a:solidFill>
              </a:rPr>
              <a:t>Dynamic few-shot example selection</a:t>
            </a:r>
          </a:p>
          <a:p>
            <a:pPr/>
            <a:r>
              <a:rPr sz="1500">
                <a:solidFill>
                  <a:srgbClr val="CCC0B4"/>
                </a:solidFill>
              </a:rPr>
              <a:t>Multi-model comparison</a:t>
            </a:r>
          </a:p>
          <a:p>
            <a:pPr/>
            <a:r>
              <a:rPr sz="1500">
                <a:solidFill>
                  <a:srgbClr val="CCC0B4"/>
                </a:solidFill>
              </a:rPr>
              <a:t>Ground-truth benchmark with expert review</a:t>
            </a:r>
          </a:p>
          <a:p>
            <a:pPr/>
            <a:r>
              <a:rPr sz="1500">
                <a:solidFill>
                  <a:srgbClr val="CCC0B4"/>
                </a:solidFill>
              </a:rPr>
              <a:t>Fine-tuning on Linux troubleshooting data</a:t>
            </a:r>
          </a:p>
          <a:p>
            <a:pPr/>
            <a:r>
              <a:rPr sz="1500">
                <a:solidFill>
                  <a:srgbClr val="CCC0B4"/>
                </a:solidFill>
              </a:rPr>
              <a:t>User study with Linux novices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9DCEB"/>
                </a:solidFill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CCC0B4"/>
                </a:solidFill>
              </a:rPr>
              <a:t>TuxFix demonstrates that prompt engineering strategy measurably affects</a:t>
            </a:r>
          </a:p>
          <a:p>
            <a:pPr/>
            <a:r>
              <a:rPr sz="1600">
                <a:solidFill>
                  <a:srgbClr val="CCC0B4"/>
                </a:solidFill>
              </a:rPr>
              <a:t>structural quality, safety information, and evidence grounding of LLM diagnostics.</a:t>
            </a:r>
          </a:p>
          <a:p>
            <a:pPr/>
            <a:r>
              <a:rPr sz="1600">
                <a:solidFill>
                  <a:srgbClr val="A6E3A1"/>
                </a:solidFill>
              </a:rPr>
              <a:t>143 tests pass. Complete evaluation framework. Honest reporting.</a:t>
            </a:r>
          </a:p>
          <a:p>
            <a:pPr/>
            <a:r>
              <a:rPr sz="1600">
                <a:solidFill>
                  <a:srgbClr val="CCC0B4"/>
                </a:solidFill>
              </a:rPr>
              <a:t/>
            </a:r>
          </a:p>
          <a:p>
            <a:pPr/>
            <a:r>
              <a:rPr sz="1600">
                <a:solidFill>
                  <a:srgbClr val="89DCEB"/>
                </a:solidFill>
              </a:rPr>
              <a:t>"Ask better questions → get better diagnoses."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